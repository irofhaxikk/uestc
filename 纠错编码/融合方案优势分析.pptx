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00C8FF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8FF"/>
                </a:solidFill>
              </a:rPr>
              <a:t>AI for Code-based Cryptography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融合方案的突出优势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</a:rPr>
              <a:t>第四章  AI × 代数的协同优势分析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基于论文《AI for Code-based Cryptography》
Mohamed Malhou, Ludovic Perret, Kristin Lauter   |   SAC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3474720" cy="502920"/>
          </a:xfrm>
          <a:prstGeom prst="rect">
            <a:avLst/>
          </a:prstGeom>
          <a:solidFill>
            <a:srgbClr val="10284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4.1  相比纯代数方法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06240"/>
            <a:ext cx="3474720" cy="502920"/>
          </a:xfrm>
          <a:prstGeom prst="rect">
            <a:avLst/>
          </a:prstGeom>
          <a:solidFill>
            <a:srgbClr val="102845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FF"/>
                </a:solidFill>
              </a:rPr>
              <a:t>4.2  相比纯AI方法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206240"/>
            <a:ext cx="3474720" cy="502920"/>
          </a:xfrm>
          <a:prstGeom prst="rect">
            <a:avLst/>
          </a:prstGeom>
          <a:solidFill>
            <a:srgbClr val="102845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4.3  融合的独特价值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8E8"/>
                </a:solidFill>
              </a:rPr>
              <a:t>推理速度 &lt; 1 ms  ·  参数覆盖更广  ·  可解释性增强  ·  双向反馈闭环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本章结构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10284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234439"/>
            <a:ext cx="36576" cy="10972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88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相比纯代数方法的优势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无需显式推导不变量 · 更广参数覆盖 · 毫秒级推理 · 可探索性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solidFill>
            <a:srgbClr val="102845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C3AFF"/>
                </a:solidFill>
              </a:rPr>
              <a:t>4.2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880360"/>
            <a:ext cx="36576" cy="10972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相比纯AI方法的优势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29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提升泛化能力 · 增强可解释性 · 弥补数据效率 · 理论保障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102845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805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96"/>
                </a:solidFill>
              </a:rPr>
              <a:t>4.3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526280"/>
            <a:ext cx="36576" cy="10972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59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融合的独特价值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双向反馈闭环：代数指导AI，AI发现驱动代数理论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4.1  相比纯代数方法的优势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85800"/>
            <a:ext cx="45720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2697480"/>
          </a:xfrm>
          <a:prstGeom prst="rect">
            <a:avLst/>
          </a:prstGeom>
          <a:solidFill>
            <a:srgbClr val="10284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539496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① 无需显式推导不变量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代数方法（FGOPT / CMT / syzygy）需通过
Eagon-Northcott 复形、分次 Betti 数等深刻
代数几何理论手工设计区分不变量
DeepDistinguisher 自动发现隐含结构，
降低对人类数学洞察力的依赖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14400"/>
            <a:ext cx="5394960" cy="2697480"/>
          </a:xfrm>
          <a:prstGeom prst="rect">
            <a:avLst/>
          </a:prstGeom>
          <a:solidFill>
            <a:srgbClr val="10284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914400"/>
            <a:ext cx="539496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② 更广的参数覆盖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FGOPT 仅在高码率有效（R≈1）
CMT 区分范围 R ∈ [2/3, 1]
syzygy 理论上渐近独立于码率，
但固定参数仍受限
DeepDistinguisher 在中低码率仍有效：
首次对 MDPC / QC-MDPC 码给出区分结果
（Table 4，w=10 准确率 97.14%）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394960" cy="2697480"/>
          </a:xfrm>
          <a:prstGeom prst="rect">
            <a:avLst/>
          </a:prstGeom>
          <a:solidFill>
            <a:srgbClr val="10284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39496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③ 推理效率优势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代数区分器（Gröbner 基 + syzygy）
实际计算需数小时至数天
CMT 复杂度：
O(((tm/2−k+1)·C(tm/2+d−1,d))^ω)
DeepDistinguisher 推理时间：
• CPU 单核 &lt; 100 ms
• GPU 推理 &lt; 1 ms
（论文 Section 5.1 Inference Complexity）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5394960" cy="2697480"/>
          </a:xfrm>
          <a:prstGeom prst="rect">
            <a:avLst/>
          </a:prstGeom>
          <a:solidFill>
            <a:srgbClr val="10284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39496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④ 可探索性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AI 在未知参数区域的成功为代数研究
提供线索，提示可能存在尚未发现的
代数不变量或结构特征
示例：puncturing 技术将 n=128 模型
迁移到 n=1024（m=10, t=2），
仍获得 70% 准确率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4.1  实验数据佐证：参数覆盖 &amp; 推理效率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41248"/>
            <a:ext cx="5486400" cy="5303520"/>
          </a:xfrm>
          <a:prstGeom prst="rect">
            <a:avLst/>
          </a:prstGeom>
          <a:solidFill>
            <a:srgbClr val="10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86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代数区分器参数限制 vs. DeepDistinguisher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8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79" y="13533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有效码率范围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35331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MDPC支持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94960" cy="384048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FGOPT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79" y="1417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R ≈ 1（极高码率）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4173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394960" cy="384048"/>
          </a:xfrm>
          <a:prstGeom prst="rect">
            <a:avLst/>
          </a:prstGeom>
          <a:solidFill>
            <a:srgbClr val="0D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CMT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79" y="18288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R ∈ [2/3,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288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94560"/>
            <a:ext cx="5394960" cy="384048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4027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syzygy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79" y="224027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渐近无限制，但固定参数受限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240279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5394960" cy="384048"/>
          </a:xfrm>
          <a:prstGeom prst="rect">
            <a:avLst/>
          </a:prstGeom>
          <a:solidFill>
            <a:srgbClr val="0D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6517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DeepDistinguisher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79" y="26517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全范围（含低码率）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6517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17520"/>
            <a:ext cx="5394960" cy="384048"/>
          </a:xfrm>
          <a:prstGeom prst="rect">
            <a:avLst/>
          </a:prstGeom>
          <a:solidFill>
            <a:srgbClr val="002818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632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DeepDistinguisher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30632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全范围（含低码率）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06324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66160"/>
            <a:ext cx="5394960" cy="1554480"/>
          </a:xfrm>
          <a:prstGeom prst="rect">
            <a:avLst/>
          </a:prstGeom>
          <a:solidFill>
            <a:srgbClr val="0A2218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首次 MDPC 区分结果（Table 4）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0690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96"/>
                </a:solidFill>
              </a:rPr>
              <a:t>• MDPC  w=10：准确率 97.14%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389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MDPC  w=14：准确率 54.90%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96"/>
                </a:solidFill>
              </a:rPr>
              <a:t>• QC-MDPC w=6：准确率 98.02%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841248"/>
            <a:ext cx="5486400" cy="2926080"/>
          </a:xfrm>
          <a:prstGeom prst="rect">
            <a:avLst/>
          </a:prstGeom>
          <a:solidFill>
            <a:srgbClr val="10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886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推理时间对比（Section 5.1）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Gröbner 基计算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1463040"/>
            <a:ext cx="360045" cy="292608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2525" y="14630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数小时～数天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syzygy 区分器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1920239"/>
            <a:ext cx="240030" cy="292608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2509" y="19202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亚指数级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CMT 区分器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2377439"/>
            <a:ext cx="160020" cy="292608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2500" y="23774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超指数（高t）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DeepDistinguisher
(CPU 单核)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2834639"/>
            <a:ext cx="2000250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12730" y="28346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&lt; 100 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246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DeepDistinguisher
(GPU)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291839"/>
            <a:ext cx="3200400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12880" y="32918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&lt; 1 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931920"/>
            <a:ext cx="5486400" cy="2194560"/>
          </a:xfrm>
          <a:prstGeom prst="rect">
            <a:avLst/>
          </a:prstGeom>
          <a:solidFill>
            <a:srgbClr val="102845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9776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Goppa Code 区分精度（Table 1, 论文 p.15）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434840"/>
            <a:ext cx="5394960" cy="310896"/>
          </a:xfrm>
          <a:prstGeom prst="rect">
            <a:avLst/>
          </a:prstGeom>
          <a:solidFill>
            <a:srgbClr val="121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462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(q=2,m=6) t=2, n=64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44622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596"/>
                </a:solidFill>
              </a:rPr>
              <a:t>99.12%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4782312"/>
            <a:ext cx="5394960" cy="310896"/>
          </a:xfrm>
          <a:prstGeom prst="rect">
            <a:avLst/>
          </a:prstGeom>
          <a:solidFill>
            <a:srgbClr val="0E0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8097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(q=2,m=6) t=3, n=64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4809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596"/>
                </a:solidFill>
              </a:rPr>
              <a:t>98.88%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5129783"/>
            <a:ext cx="5394960" cy="310896"/>
          </a:xfrm>
          <a:prstGeom prst="rect">
            <a:avLst/>
          </a:prstGeom>
          <a:solidFill>
            <a:srgbClr val="121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5157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(q=3,m=4) t=2, n=64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51572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596"/>
                </a:solidFill>
              </a:rPr>
              <a:t>98.25%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477256"/>
            <a:ext cx="5394960" cy="310896"/>
          </a:xfrm>
          <a:prstGeom prst="rect">
            <a:avLst/>
          </a:prstGeom>
          <a:solidFill>
            <a:srgbClr val="0E0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5504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(q=2,m=7) t=3, n=128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55046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596"/>
                </a:solidFill>
              </a:rPr>
              <a:t>99.48%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4.2  相比纯AI方法的优势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85800"/>
            <a:ext cx="4572000" cy="3657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2697480"/>
          </a:xfrm>
          <a:prstGeom prst="rect">
            <a:avLst/>
          </a:prstGeom>
          <a:solidFill>
            <a:srgbClr val="1A1040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5394960" cy="4114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① 提升泛化能力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朴素深度学习：逐行展平生成矩阵
→ 序列长度 kn，注意力代价 O(k²n²)
代数启发设计：
• 行序列（Row-Sequence）输入 ✓
• 系统形式预处理（Standard Form）
• 角嵌入编码有限域元素
→ 大幅降低计算复杂度，提升泛化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14400"/>
            <a:ext cx="5394960" cy="2697480"/>
          </a:xfrm>
          <a:prstGeom prst="rect">
            <a:avLst/>
          </a:prstGeom>
          <a:solidFill>
            <a:srgbClr val="1A1040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914400"/>
            <a:ext cx="5394960" cy="4114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② 增强可解释性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代数理论为网络学习提供解释框架
观测现象（论文 Section 7）：
准确率随 mt 增大而退化
代数解释：
当所需关系的次数超出网络表达能力时
区分器失效 —— 网络隐式学习行向量间
多线性关系，关系次数过高则失效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394960" cy="2697480"/>
          </a:xfrm>
          <a:prstGeom prst="rect">
            <a:avLst/>
          </a:prstGeom>
          <a:solidFill>
            <a:srgbClr val="1A1040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394960" cy="4114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③ 弥补数据效率不足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纯AI需海量标注数据
代数先验减少模型需从数据中学习的
信息量，提高数据利用效率
实验证据：对低 t 参数（t≤4）
仅需 1K～36K 训练步骤即达 99%+
（Table 2，n=128, m=7）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5394960" cy="2697480"/>
          </a:xfrm>
          <a:prstGeom prst="rect">
            <a:avLst/>
          </a:prstGeom>
          <a:solidFill>
            <a:srgbClr val="1A1040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394960" cy="4114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④ 理论保障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代数理论为 AI 方法适用范围提供界限
例：当已知某参数范围内不存在低次
代数不变量时，可预判 AI 在该范围
可能失效，避免无效计算
实证：t≥9 时（n=128, m=7）
准确率≤51%，与代数理论预期一致
（Table 2，论文 p.16）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4.2  实验数据佐证：泛化能力 &amp; 理论保障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0" cy="3657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41248"/>
            <a:ext cx="5486400" cy="5394960"/>
          </a:xfrm>
          <a:prstGeom prst="rect">
            <a:avLst/>
          </a:prstGeom>
          <a:solidFill>
            <a:srgbClr val="1A1040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869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训练步骤 vs. 准确率（泛化能力）
(q=2, m=7, n=128, Table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t=2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2K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691640"/>
            <a:ext cx="256032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98.14%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21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t=3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219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91K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313432"/>
            <a:ext cx="256032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67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99.48%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437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t=4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4378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36K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935224"/>
            <a:ext cx="256032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8895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98.88%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655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8E8"/>
                </a:solidFill>
              </a:rPr>
              <a:t>t=5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655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579K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557016"/>
            <a:ext cx="844905" cy="274320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3785" y="35112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64.52%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8E8"/>
                </a:solidFill>
              </a:rPr>
              <a:t>t=6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8736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115K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178808"/>
            <a:ext cx="358444" cy="274320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7324" y="4133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57.0%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t=7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411K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4800600"/>
            <a:ext cx="230428" cy="2743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9308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54.42%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5394960" cy="777240"/>
          </a:xfrm>
          <a:prstGeom prst="rect">
            <a:avLst/>
          </a:prstGeom>
          <a:solidFill>
            <a:srgbClr val="140C38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94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t ≤ 4：千级步骤达 99%+（高数据效率）
t ≥ 9：准确率 ≤ 51%（符合代数理论界限）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841248"/>
            <a:ext cx="5486400" cy="2743200"/>
          </a:xfrm>
          <a:prstGeom prst="rect">
            <a:avLst/>
          </a:prstGeom>
          <a:solidFill>
            <a:srgbClr val="1A1040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886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代数启发架构设计 vs. 朴素设计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371600"/>
            <a:ext cx="5394960" cy="347472"/>
          </a:xfrm>
          <a:prstGeom prst="rect">
            <a:avLst/>
          </a:prstGeom>
          <a:solidFill>
            <a:srgbClr val="120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08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对比项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4081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朴素方案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14081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代数启发方案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783080"/>
            <a:ext cx="5394960" cy="329184"/>
          </a:xfrm>
          <a:prstGeom prst="rect">
            <a:avLst/>
          </a:prstGeom>
          <a:solidFill>
            <a:srgbClr val="140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810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输入表示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1810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逐行展平（flat）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1810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行序列（row-seq）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130552"/>
            <a:ext cx="5394960" cy="329184"/>
          </a:xfrm>
          <a:prstGeom prst="rect">
            <a:avLst/>
          </a:prstGeom>
          <a:solidFill>
            <a:srgbClr val="10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157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序列长度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21579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kn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k（行数）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478024"/>
            <a:ext cx="5394960" cy="329184"/>
          </a:xfrm>
          <a:prstGeom prst="rect">
            <a:avLst/>
          </a:prstGeom>
          <a:solidFill>
            <a:srgbClr val="140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25054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注意力代价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2505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O(k²n²)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25054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O(k²)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2825496"/>
            <a:ext cx="5394960" cy="329184"/>
          </a:xfrm>
          <a:prstGeom prst="rect">
            <a:avLst/>
          </a:prstGeom>
          <a:solidFill>
            <a:srgbClr val="10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28529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编码方式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285292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原始整数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285292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角嵌入/多项式系数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172968"/>
            <a:ext cx="5394960" cy="329184"/>
          </a:xfrm>
          <a:prstGeom prst="rect">
            <a:avLst/>
          </a:prstGeom>
          <a:solidFill>
            <a:srgbClr val="140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2003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Table 6 对比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320039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E8"/>
                </a:solidFill>
              </a:rPr>
              <a:t>Patch 嵌入略差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20039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Row-seq 最优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749039"/>
            <a:ext cx="5486400" cy="2468880"/>
          </a:xfrm>
          <a:prstGeom prst="rect">
            <a:avLst/>
          </a:prstGeom>
          <a:solidFill>
            <a:srgbClr val="1A1040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DeepRecover：验证代数结构可学习性（Section 6）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425196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任务：给定含缺失项的生成矩阵 G̃ ∈ M(Fq ∪ {*})
恢复缺失值使其成为合法 Goppa 码生成矩阵
实验结果（Table 5，q=2, n=64, m=6）：
  t=2：组件准确率 80%
  t=3：组件准确率 76%
  t=4：组件准确率 64%
证明：Goppa 码结构可被 AI 学习并利用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4.3  融合的独特价值：双向反馈闭环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85800"/>
            <a:ext cx="502920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5760720" cy="960120"/>
          </a:xfrm>
          <a:prstGeom prst="rect">
            <a:avLst/>
          </a:prstGeom>
          <a:solidFill>
            <a:srgbClr val="0A261A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代数理论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（FGOPT / CMT / syzygy / Betti 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200400"/>
            <a:ext cx="5760720" cy="960120"/>
          </a:xfrm>
          <a:prstGeom prst="rect">
            <a:avLst/>
          </a:prstGeom>
          <a:solidFill>
            <a:srgbClr val="0A1438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深度学习 / AI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（DeepDistinguisher / DeepRecover / Transformer）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574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E596"/>
                </a:solidFill>
              </a:rPr>
              <a:t>指导设计 →
（输入表示、训练目标）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603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00C8FF"/>
                </a:solidFill>
              </a:rPr>
              <a:t>← 实验发现驱动
（新参数区域、隐含不变量线索）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3566160" cy="2331720"/>
          </a:xfrm>
          <a:prstGeom prst="rect">
            <a:avLst/>
          </a:prstGeom>
          <a:solidFill>
            <a:srgbClr val="102845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356616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708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发现新不变量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006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AI 在 QC-MDPC w=6 区分
成功（98.02%），提示
可能存在未被发现的代数
不变量（论文 Section 5.3）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343400"/>
            <a:ext cx="3566160" cy="2331720"/>
          </a:xfrm>
          <a:prstGeom prst="rect">
            <a:avLst/>
          </a:prstGeom>
          <a:solidFill>
            <a:srgbClr val="10284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343400"/>
            <a:ext cx="3566160" cy="3840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3708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跨码族迁移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8006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puncturing 技术将
m=7,n=128 模型迁移到
m=10,n=1024，准确率
仍达 70%（Section 5.2）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343400"/>
            <a:ext cx="3566160" cy="2331720"/>
          </a:xfrm>
          <a:prstGeom prst="rect">
            <a:avLst/>
          </a:prstGeom>
          <a:solidFill>
            <a:srgbClr val="102845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343400"/>
            <a:ext cx="3566160" cy="38404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3708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AI辅助数学发现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006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"AI-assisted mathematics"
范式：非线性相关性→
代数结构假设→
严格数学证明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融合方案综合优势总结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3657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41248"/>
            <a:ext cx="11430000" cy="438912"/>
          </a:xfrm>
          <a:prstGeom prst="rect">
            <a:avLst/>
          </a:prstGeom>
          <a:solidFill>
            <a:srgbClr val="1A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8696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D8E8"/>
                </a:solidFill>
              </a:rPr>
              <a:t>评估维度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2" y="886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纯代数方法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72" y="8869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纯AI方法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8869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融合方案（本文）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53312"/>
            <a:ext cx="11430000" cy="621792"/>
          </a:xfrm>
          <a:prstGeom prst="rect">
            <a:avLst/>
          </a:prstGeom>
          <a:solidFill>
            <a:srgbClr val="1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426464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参数覆盖范围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4264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高码率受限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42646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无理论指导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42646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全范围，首次MDPC结果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11680"/>
            <a:ext cx="11430000" cy="621792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084832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推理速度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0848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小时～天级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0848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毫秒级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08483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&lt; 1 ms (GPU)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70048"/>
            <a:ext cx="11430000" cy="621792"/>
          </a:xfrm>
          <a:prstGeom prst="rect">
            <a:avLst/>
          </a:prstGeom>
          <a:solidFill>
            <a:srgbClr val="1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743200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可解释性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完全可解释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743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黑盒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743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代数理论提供框架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28416"/>
            <a:ext cx="11430000" cy="621792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401568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数据需求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2072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无需数据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3401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海量数据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34015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代数先验减少需求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86783"/>
            <a:ext cx="11430000" cy="621792"/>
          </a:xfrm>
          <a:prstGeom prst="rect">
            <a:avLst/>
          </a:prstGeom>
          <a:solidFill>
            <a:srgbClr val="1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059935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理论保障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2072" y="4059935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严格理论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72" y="4059935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经验驱动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4059935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代数界限 + 实验验证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45152"/>
            <a:ext cx="11430000" cy="621792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4718304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新发现能力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47183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依赖人类洞察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471830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隐含发现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471830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596"/>
                </a:solidFill>
              </a:rPr>
              <a:t>双向反馈，发现新线索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40680"/>
            <a:ext cx="11430000" cy="1234440"/>
          </a:xfrm>
          <a:prstGeom prst="rect">
            <a:avLst/>
          </a:prstGeom>
          <a:solidFill>
            <a:srgbClr val="121206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68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核心结论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704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融合方案形成了「代数理论 ⇌ AI 模型」双向反馈闭环，兼具代数方法的可解释性与 AI 的参数覆盖广度。
DeepDistinguisher 在 CPU 上推理 &lt; 100 ms、GPU &lt; 1 ms，且首次对 MDPC/QC-MDPC 码给出区分结果（w=10, 97.14%），
开创了「AI 辅助密码分析」的新范式，为后量子密码安全评估提供了全新工具。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